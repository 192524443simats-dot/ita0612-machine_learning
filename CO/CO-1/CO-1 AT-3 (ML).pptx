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512ACF-0B69-3FCD-765D-60212A641A62}">
          <p14:sldIdLst>
            <p14:sldId id="267"/>
          </p14:sldIdLst>
        </p14:section>
        <p14:section name="Concepts" id="{355460E6-15C4-A6BB-AF22-A3FA014F8701}">
          <p14:sldIdLst>
            <p14:sldId id="257"/>
            <p14:sldId id="258"/>
            <p14:sldId id="259"/>
            <p14:sldId id="260"/>
            <p14:sldId id="261"/>
          </p14:sldIdLst>
        </p14:section>
        <p14:section name="Applications" id="{048D8246-7FD2-03BE-5E38-A83E97EC18E0}">
          <p14:sldIdLst>
            <p14:sldId id="262"/>
            <p14:sldId id="263"/>
            <p14:sldId id="264"/>
          </p14:sldIdLst>
        </p14:section>
        <p14:section name="Wrap-up" id="{41A7219E-6624-CEDC-D119-C2022C5268D1}">
          <p14:sldIdLst>
            <p14:sldId id="265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1F3A"/>
                </a:solidFill>
                <a:latin typeface="+mn-lt"/>
              </a:rPr>
              <a:t>Binary entropy H(p)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H(p)</c:v>
                </c:pt>
              </c:strCache>
            </c:strRef>
          </c:tx>
          <c:spPr>
            <a:ln w="38100" cap="flat">
              <a:solidFill>
                <a:srgbClr val="0E9AA7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E9AA7"/>
              </a:solidFill>
              <a:ln w="9525" cap="flat">
                <a:solidFill>
                  <a:srgbClr val="0E9AA7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0.46899999999999997</c:v>
                </c:pt>
                <c:pt idx="2">
                  <c:v>0.72199999999999998</c:v>
                </c:pt>
                <c:pt idx="3">
                  <c:v>0.88100000000000001</c:v>
                </c:pt>
                <c:pt idx="4">
                  <c:v>0.97099999999999997</c:v>
                </c:pt>
                <c:pt idx="5">
                  <c:v>1</c:v>
                </c:pt>
                <c:pt idx="6">
                  <c:v>0.97099999999999997</c:v>
                </c:pt>
                <c:pt idx="7">
                  <c:v>0.88100000000000001</c:v>
                </c:pt>
                <c:pt idx="8">
                  <c:v>0.72199999999999998</c:v>
                </c:pt>
                <c:pt idx="9">
                  <c:v>0.46899999999999997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61-4B05-80E9-842FFDECFC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0"/>
                    </a:solidFill>
                    <a:latin typeface="+mn-lt"/>
                  </a:defRPr>
                </a:pPr>
                <a:r>
                  <a:rPr lang="en-IN" sz="1100" b="0" i="0" u="none" strike="noStrike">
                    <a:solidFill>
                      <a:srgbClr val="5B6770"/>
                    </a:solidFill>
                    <a:latin typeface="+mn-lt"/>
                  </a:rPr>
                  <a:t>P(positive class)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9FD3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88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Uninformed search (BFS, DFS) treats all options equally. Heuristic search uses problem-specific knowledge to rank them. In A*, f(n)=g(n)+h(n).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of Boolean functions over n binary features is 2^(2^n). n=3: 256. n=5: 2^32. n=6: 2^64.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learning organizes hypotheses from general to specific. Find-S moves up from the most specific; candidate elimination maintains both boundaries (the version space).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mechanisms: ordering candidates, pruning, scoring with an evaluation function, and inductive bias that restricts the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strategy applies a heuristic differently; all are used in ML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ID3/C4.5 choose the attribute with the highest information gain at each node. Finding the globally optimal tree is NP-complete, so greedy search is the standard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20 features there are 2^20 = 1,048,576 subsets. Greedy forward selection evaluates 20+19+...+1 = 210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Heuristic search appears wherever the space is too big to enumerate.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Heuristics cut complexity from exponential to polynomial in many cases, but give up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54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8D01-E45E-D01B-4785-87AFB8731152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92908" y="1767727"/>
            <a:ext cx="7958183" cy="662575"/>
          </a:xfrm>
        </p:spPr>
        <p:txBody>
          <a:bodyPr/>
          <a:lstStyle/>
          <a:p>
            <a:r>
              <a:rPr lang="en-US" sz="3200" dirty="0"/>
              <a:t>Heuristic Search in Machine Learning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BF00E4-8B1F-CC64-F80C-A54E1DDD8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5" y="350307"/>
            <a:ext cx="6792687" cy="874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228101-8CDC-6779-0BB1-D4E4B8C27952}"/>
              </a:ext>
            </a:extLst>
          </p:cNvPr>
          <p:cNvSpPr txBox="1"/>
          <p:nvPr/>
        </p:nvSpPr>
        <p:spPr>
          <a:xfrm>
            <a:off x="772160" y="3635829"/>
            <a:ext cx="290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Elakiya 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192524443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6A037-F1E0-B508-4E69-B7FAEB1466C8}"/>
              </a:ext>
            </a:extLst>
          </p:cNvPr>
          <p:cNvSpPr txBox="1"/>
          <p:nvPr/>
        </p:nvSpPr>
        <p:spPr>
          <a:xfrm>
            <a:off x="2032000" y="2458492"/>
            <a:ext cx="5138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ITA0612 : Machine Learning </a:t>
            </a:r>
          </a:p>
        </p:txBody>
      </p:sp>
    </p:spTree>
    <p:extLst>
      <p:ext uri="{BB962C8B-B14F-4D97-AF65-F5344CB8AC3E}">
        <p14:creationId xmlns:p14="http://schemas.microsoft.com/office/powerpoint/2010/main" val="28474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62891" y="297966"/>
            <a:ext cx="64182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heuristic search?</a:t>
            </a:r>
            <a:endParaRPr lang="en-US" sz="3400" dirty="0"/>
          </a:p>
        </p:txBody>
      </p:sp>
      <p:sp>
        <p:nvSpPr>
          <p:cNvPr id="4" name="definition"/>
          <p:cNvSpPr txBox="1"/>
          <p:nvPr/>
        </p:nvSpPr>
        <p:spPr>
          <a:xfrm>
            <a:off x="490583" y="1700893"/>
            <a:ext cx="4480560" cy="174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search strategy that uses an estimate of how promising each option 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Explores the most promising candidates first, instead of blindly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Trades guaranteed optimality for speed, unless the heuristic is admissible</a:t>
            </a:r>
            <a:endParaRPr lang="en-US" sz="1600" dirty="0"/>
          </a:p>
        </p:txBody>
      </p:sp>
      <p:sp>
        <p:nvSpPr>
          <p:cNvPr id="5" name="contrast"/>
          <p:cNvSpPr txBox="1"/>
          <p:nvPr/>
        </p:nvSpPr>
        <p:spPr>
          <a:xfrm>
            <a:off x="54864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/>
              <a:t>Uninformed: </a:t>
            </a:r>
            <a:r>
              <a:rPr lang="en-US" sz="1600" dirty="0">
                <a:solidFill>
                  <a:schemeClr val="tx1"/>
                </a:solidFill>
              </a:rPr>
              <a:t>explores everything
</a:t>
            </a:r>
            <a:r>
              <a:rPr lang="en-US" sz="1600" b="1" dirty="0"/>
              <a:t>Heuristic: </a:t>
            </a:r>
            <a:r>
              <a:rPr lang="en-US" sz="1600" dirty="0">
                <a:solidFill>
                  <a:schemeClr val="tx1"/>
                </a:solidFill>
              </a:rPr>
              <a:t>explores what looks best</a:t>
            </a:r>
            <a:endParaRPr lang="en-US" sz="1600" dirty="0"/>
          </a:p>
        </p:txBody>
      </p:sp>
      <p:sp>
        <p:nvSpPr>
          <p:cNvPr id="6" name="formula-card"/>
          <p:cNvSpPr/>
          <p:nvPr/>
        </p:nvSpPr>
        <p:spPr>
          <a:xfrm>
            <a:off x="5394960" y="1336766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formula"/>
          <p:cNvSpPr txBox="1"/>
          <p:nvPr/>
        </p:nvSpPr>
        <p:spPr>
          <a:xfrm>
            <a:off x="55778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2400" dirty="0"/>
          </a:p>
        </p:txBody>
      </p:sp>
      <p:sp>
        <p:nvSpPr>
          <p:cNvPr id="8" name="formula-legend"/>
          <p:cNvSpPr txBox="1"/>
          <p:nvPr/>
        </p:nvSpPr>
        <p:spPr>
          <a:xfrm>
            <a:off x="5577840" y="2377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g(n)</a:t>
            </a:r>
            <a:r>
              <a:rPr lang="en-US" sz="1600" dirty="0">
                <a:solidFill>
                  <a:schemeClr val="bg1"/>
                </a:solidFill>
              </a:rPr>
              <a:t>  cost paid so far
</a:t>
            </a:r>
            <a:r>
              <a:rPr lang="en-US" sz="1600" b="1" dirty="0">
                <a:solidFill>
                  <a:schemeClr val="accent5"/>
                </a:solidFill>
              </a:rPr>
              <a:t>h(n)</a:t>
            </a:r>
            <a:r>
              <a:rPr lang="en-US" sz="1600" dirty="0">
                <a:solidFill>
                  <a:schemeClr val="bg1"/>
                </a:solidFill>
              </a:rPr>
              <a:t>  estimated cost to the goal
</a:t>
            </a:r>
            <a:r>
              <a:rPr lang="en-US" sz="1600" b="1" dirty="0">
                <a:solidFill>
                  <a:schemeClr val="accent5"/>
                </a:solidFill>
              </a:rPr>
              <a:t>f(n)</a:t>
            </a:r>
            <a:r>
              <a:rPr lang="en-US" sz="1600" dirty="0">
                <a:solidFill>
                  <a:schemeClr val="bg1"/>
                </a:solidFill>
              </a:rPr>
              <a:t>  estimated total, used to rank nodes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E3E8FF-821C-A035-5E8E-CF2365E1B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3" y="256299"/>
            <a:ext cx="655211" cy="860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DA4F8B-2741-B288-2FBD-42F552227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ML needs heuristics</a:t>
            </a:r>
            <a:endParaRPr lang="en-US" sz="3400" dirty="0"/>
          </a:p>
        </p:txBody>
      </p:sp>
      <p:sp>
        <p:nvSpPr>
          <p:cNvPr id="4" name="intro"/>
          <p:cNvSpPr txBox="1"/>
          <p:nvPr/>
        </p:nvSpPr>
        <p:spPr>
          <a:xfrm>
            <a:off x="1097280" y="1247503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/>
              <a:t>The hypothesis space explodes. Boolean functions over n binary features: 2^(2^n)</a:t>
            </a:r>
          </a:p>
        </p:txBody>
      </p:sp>
      <p:sp>
        <p:nvSpPr>
          <p:cNvPr id="5" name="stat-card0"/>
          <p:cNvSpPr/>
          <p:nvPr/>
        </p:nvSpPr>
        <p:spPr>
          <a:xfrm>
            <a:off x="54864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-label0"/>
          <p:cNvSpPr txBox="1"/>
          <p:nvPr/>
        </p:nvSpPr>
        <p:spPr>
          <a:xfrm>
            <a:off x="7772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n = 3</a:t>
            </a:r>
            <a:endParaRPr lang="en-US" sz="1600" dirty="0"/>
          </a:p>
        </p:txBody>
      </p:sp>
      <p:sp>
        <p:nvSpPr>
          <p:cNvPr id="7" name="stat-value0"/>
          <p:cNvSpPr txBox="1"/>
          <p:nvPr/>
        </p:nvSpPr>
        <p:spPr>
          <a:xfrm>
            <a:off x="77724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4800" dirty="0"/>
          </a:p>
        </p:txBody>
      </p:sp>
      <p:sp>
        <p:nvSpPr>
          <p:cNvPr id="8" name="stat-cap0"/>
          <p:cNvSpPr txBox="1"/>
          <p:nvPr/>
        </p:nvSpPr>
        <p:spPr>
          <a:xfrm>
            <a:off x="7772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possible hypotheses</a:t>
            </a:r>
            <a:endParaRPr lang="en-US" sz="1400" dirty="0"/>
          </a:p>
        </p:txBody>
      </p:sp>
      <p:sp>
        <p:nvSpPr>
          <p:cNvPr id="9" name="stat-card1"/>
          <p:cNvSpPr/>
          <p:nvPr/>
        </p:nvSpPr>
        <p:spPr>
          <a:xfrm>
            <a:off x="329184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label1"/>
          <p:cNvSpPr txBox="1"/>
          <p:nvPr/>
        </p:nvSpPr>
        <p:spPr>
          <a:xfrm>
            <a:off x="35204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n = 5</a:t>
            </a:r>
            <a:endParaRPr lang="en-US" sz="1600" dirty="0"/>
          </a:p>
        </p:txBody>
      </p:sp>
      <p:sp>
        <p:nvSpPr>
          <p:cNvPr id="11" name="stat-value1"/>
          <p:cNvSpPr txBox="1"/>
          <p:nvPr/>
        </p:nvSpPr>
        <p:spPr>
          <a:xfrm>
            <a:off x="352044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billion</a:t>
            </a:r>
            <a:endParaRPr lang="en-US" sz="3000" dirty="0"/>
          </a:p>
        </p:txBody>
      </p:sp>
      <p:sp>
        <p:nvSpPr>
          <p:cNvPr id="12" name="stat-cap1"/>
          <p:cNvSpPr txBox="1"/>
          <p:nvPr/>
        </p:nvSpPr>
        <p:spPr>
          <a:xfrm>
            <a:off x="35204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possible hypotheses</a:t>
            </a:r>
            <a:endParaRPr lang="en-US" sz="1400" dirty="0"/>
          </a:p>
        </p:txBody>
      </p:sp>
      <p:sp>
        <p:nvSpPr>
          <p:cNvPr id="13" name="stat-card2"/>
          <p:cNvSpPr/>
          <p:nvPr/>
        </p:nvSpPr>
        <p:spPr>
          <a:xfrm>
            <a:off x="6035040" y="182880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at-label2"/>
          <p:cNvSpPr txBox="1"/>
          <p:nvPr/>
        </p:nvSpPr>
        <p:spPr>
          <a:xfrm>
            <a:off x="62636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n = 6</a:t>
            </a:r>
            <a:endParaRPr lang="en-US" sz="1600" dirty="0"/>
          </a:p>
        </p:txBody>
      </p:sp>
      <p:sp>
        <p:nvSpPr>
          <p:cNvPr id="15" name="stat-value2"/>
          <p:cNvSpPr txBox="1"/>
          <p:nvPr/>
        </p:nvSpPr>
        <p:spPr>
          <a:xfrm>
            <a:off x="626364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× 10¹⁹</a:t>
            </a:r>
            <a:endParaRPr lang="en-US" sz="3000" dirty="0"/>
          </a:p>
        </p:txBody>
      </p:sp>
      <p:sp>
        <p:nvSpPr>
          <p:cNvPr id="16" name="stat-cap2"/>
          <p:cNvSpPr txBox="1"/>
          <p:nvPr/>
        </p:nvSpPr>
        <p:spPr>
          <a:xfrm>
            <a:off x="62636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possible hypotheses</a:t>
            </a:r>
            <a:endParaRPr lang="en-US" sz="1400" dirty="0"/>
          </a:p>
        </p:txBody>
      </p:sp>
      <p:sp>
        <p:nvSpPr>
          <p:cNvPr id="17" name="takeaway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/>
              <a:t>Enumerating every hypothesis is infeasible, so learning needs a guide.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7E04EB-CEC7-E680-C3D1-8FAC01BFB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3" y="209793"/>
            <a:ext cx="655211" cy="8605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EC7AE2-F538-4FBD-5CA9-BC6B0C449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Exploring the hypothesis space</a:t>
            </a:r>
            <a:endParaRPr lang="en-US" sz="3400" dirty="0"/>
          </a:p>
        </p:txBody>
      </p:sp>
      <p:sp>
        <p:nvSpPr>
          <p:cNvPr id="4" name="level0"/>
          <p:cNvSpPr/>
          <p:nvPr/>
        </p:nvSpPr>
        <p:spPr>
          <a:xfrm>
            <a:off x="548640" y="1280160"/>
            <a:ext cx="384048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level-label0"/>
          <p:cNvSpPr txBox="1"/>
          <p:nvPr/>
        </p:nvSpPr>
        <p:spPr>
          <a:xfrm>
            <a:off x="73152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Most general</a:t>
            </a:r>
            <a:endParaRPr lang="en-US" sz="1200" dirty="0"/>
          </a:p>
        </p:txBody>
      </p:sp>
      <p:sp>
        <p:nvSpPr>
          <p:cNvPr id="6" name="level-hyp0"/>
          <p:cNvSpPr txBox="1"/>
          <p:nvPr/>
        </p:nvSpPr>
        <p:spPr>
          <a:xfrm>
            <a:off x="73152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⟨ ?, ?, ? ⟩</a:t>
            </a:r>
            <a:endParaRPr lang="en-US" sz="1800" dirty="0"/>
          </a:p>
        </p:txBody>
      </p:sp>
      <p:sp>
        <p:nvSpPr>
          <p:cNvPr id="7" name="arrow0"/>
          <p:cNvSpPr/>
          <p:nvPr/>
        </p:nvSpPr>
        <p:spPr>
          <a:xfrm>
            <a:off x="2468880" y="2084832"/>
            <a:ext cx="0" cy="301752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level1"/>
          <p:cNvSpPr/>
          <p:nvPr/>
        </p:nvSpPr>
        <p:spPr>
          <a:xfrm>
            <a:off x="548640" y="2423160"/>
            <a:ext cx="384048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level-label1"/>
          <p:cNvSpPr txBox="1"/>
          <p:nvPr/>
        </p:nvSpPr>
        <p:spPr>
          <a:xfrm>
            <a:off x="73152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Partially specific</a:t>
            </a:r>
            <a:endParaRPr lang="en-US" sz="1200" dirty="0"/>
          </a:p>
        </p:txBody>
      </p:sp>
      <p:sp>
        <p:nvSpPr>
          <p:cNvPr id="10" name="level-hyp1"/>
          <p:cNvSpPr txBox="1"/>
          <p:nvPr/>
        </p:nvSpPr>
        <p:spPr>
          <a:xfrm>
            <a:off x="731520" y="2770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⟨ Sunny, ?, ? ⟩</a:t>
            </a:r>
            <a:endParaRPr lang="en-US" sz="1800" dirty="0"/>
          </a:p>
        </p:txBody>
      </p:sp>
      <p:sp>
        <p:nvSpPr>
          <p:cNvPr id="11" name="arrow1"/>
          <p:cNvSpPr/>
          <p:nvPr/>
        </p:nvSpPr>
        <p:spPr>
          <a:xfrm>
            <a:off x="2468880" y="3227832"/>
            <a:ext cx="0" cy="301752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level2"/>
          <p:cNvSpPr/>
          <p:nvPr/>
        </p:nvSpPr>
        <p:spPr>
          <a:xfrm>
            <a:off x="548640" y="3566160"/>
            <a:ext cx="384048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level-label2"/>
          <p:cNvSpPr txBox="1"/>
          <p:nvPr/>
        </p:nvSpPr>
        <p:spPr>
          <a:xfrm>
            <a:off x="73152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Most specific</a:t>
            </a:r>
            <a:endParaRPr lang="en-US" sz="1200" dirty="0"/>
          </a:p>
        </p:txBody>
      </p:sp>
      <p:sp>
        <p:nvSpPr>
          <p:cNvPr id="14" name="level-hyp2"/>
          <p:cNvSpPr txBox="1"/>
          <p:nvPr/>
        </p:nvSpPr>
        <p:spPr>
          <a:xfrm>
            <a:off x="731520" y="3913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⟨ Sunny, Warm, Strong ⟩</a:t>
            </a:r>
            <a:endParaRPr lang="en-US" sz="1800" dirty="0"/>
          </a:p>
        </p:txBody>
      </p:sp>
      <p:sp>
        <p:nvSpPr>
          <p:cNvPr id="15" name="hyp-bullets"/>
          <p:cNvSpPr txBox="1"/>
          <p:nvPr/>
        </p:nvSpPr>
        <p:spPr>
          <a:xfrm>
            <a:off x="4754882" y="1557891"/>
            <a:ext cx="3657600" cy="239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Hypotheses are ordered from general to specific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Search moves along this ordering, specializing or generalizing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Training examples prune whole regions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version space holds every hypothesis still consistent with the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AC2422-10C4-E997-A0DA-AC32C3E30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3" y="232652"/>
            <a:ext cx="655211" cy="860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C581A5-7BB6-77AF-E9E7-903961EBA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heuristics guide the search</a:t>
            </a:r>
            <a:endParaRPr lang="en-US" sz="3400" dirty="0"/>
          </a:p>
        </p:txBody>
      </p:sp>
      <p:sp>
        <p:nvSpPr>
          <p:cNvPr id="4" name="guide-card0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uide-badge0"/>
          <p:cNvSpPr txBox="1"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guide-title0"/>
          <p:cNvSpPr txBox="1"/>
          <p:nvPr/>
        </p:nvSpPr>
        <p:spPr>
          <a:xfrm>
            <a:off x="1463040" y="1508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Ordering</a:t>
            </a:r>
            <a:endParaRPr lang="en-US" sz="2000" dirty="0"/>
          </a:p>
        </p:txBody>
      </p:sp>
      <p:sp>
        <p:nvSpPr>
          <p:cNvPr id="7" name="guide-desc0"/>
          <p:cNvSpPr txBox="1"/>
          <p:nvPr/>
        </p:nvSpPr>
        <p:spPr>
          <a:xfrm>
            <a:off x="1463040" y="2011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Expand the most promising candidate first</a:t>
            </a:r>
            <a:endParaRPr lang="en-US" sz="1400" dirty="0"/>
          </a:p>
        </p:txBody>
      </p:sp>
      <p:sp>
        <p:nvSpPr>
          <p:cNvPr id="8" name="guide-card1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guide-badge1"/>
          <p:cNvSpPr txBox="1"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guide-title1"/>
          <p:cNvSpPr txBox="1"/>
          <p:nvPr/>
        </p:nvSpPr>
        <p:spPr>
          <a:xfrm>
            <a:off x="5577840" y="1508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Pruning</a:t>
            </a:r>
            <a:endParaRPr lang="en-US" sz="2000" dirty="0"/>
          </a:p>
        </p:txBody>
      </p:sp>
      <p:sp>
        <p:nvSpPr>
          <p:cNvPr id="11" name="guide-desc1"/>
          <p:cNvSpPr txBox="1"/>
          <p:nvPr/>
        </p:nvSpPr>
        <p:spPr>
          <a:xfrm>
            <a:off x="5577840" y="2011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Discard branches that cannot beat the best so far</a:t>
            </a:r>
            <a:endParaRPr lang="en-US" sz="1400" dirty="0"/>
          </a:p>
        </p:txBody>
      </p:sp>
      <p:sp>
        <p:nvSpPr>
          <p:cNvPr id="12" name="guide-card2"/>
          <p:cNvSpPr/>
          <p:nvPr/>
        </p:nvSpPr>
        <p:spPr>
          <a:xfrm>
            <a:off x="54864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guide-badge2"/>
          <p:cNvSpPr txBox="1"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guide-title2"/>
          <p:cNvSpPr txBox="1"/>
          <p:nvPr/>
        </p:nvSpPr>
        <p:spPr>
          <a:xfrm>
            <a:off x="146304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Evaluation function</a:t>
            </a:r>
            <a:endParaRPr lang="en-US" sz="2000" dirty="0"/>
          </a:p>
        </p:txBody>
      </p:sp>
      <p:sp>
        <p:nvSpPr>
          <p:cNvPr id="15" name="guide-desc2"/>
          <p:cNvSpPr txBox="1"/>
          <p:nvPr/>
        </p:nvSpPr>
        <p:spPr>
          <a:xfrm>
            <a:off x="146304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Score candidates: accuracy, information gain, loss</a:t>
            </a:r>
            <a:endParaRPr lang="en-US" sz="1400" dirty="0"/>
          </a:p>
        </p:txBody>
      </p:sp>
      <p:sp>
        <p:nvSpPr>
          <p:cNvPr id="16" name="guide-card3"/>
          <p:cNvSpPr/>
          <p:nvPr/>
        </p:nvSpPr>
        <p:spPr>
          <a:xfrm>
            <a:off x="466344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guide-badge3"/>
          <p:cNvSpPr txBox="1"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guide-title3"/>
          <p:cNvSpPr txBox="1"/>
          <p:nvPr/>
        </p:nvSpPr>
        <p:spPr>
          <a:xfrm>
            <a:off x="557784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Inductive bias</a:t>
            </a:r>
            <a:endParaRPr lang="en-US" sz="2000" dirty="0"/>
          </a:p>
        </p:txBody>
      </p:sp>
      <p:sp>
        <p:nvSpPr>
          <p:cNvPr id="19" name="guide-desc3"/>
          <p:cNvSpPr txBox="1"/>
          <p:nvPr/>
        </p:nvSpPr>
        <p:spPr>
          <a:xfrm>
            <a:off x="557784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Prefer simpler or more general hypotheses (Occam)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E5D5ED-B2EB-5D9F-5AF8-19A1A640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3" y="256299"/>
            <a:ext cx="655211" cy="8605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5D4BF6-ADDA-218A-31B5-890D0EA22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79714" y="182880"/>
            <a:ext cx="71845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Common heuristic search strategies</a:t>
            </a:r>
            <a:endParaRPr lang="en-US" sz="3200" dirty="0"/>
          </a:p>
        </p:txBody>
      </p:sp>
      <p:graphicFrame>
        <p:nvGraphicFramePr>
          <p:cNvPr id="7" name="strateg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Strategy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Heuristic idea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ML use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Greedy / hill climbing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Take the locally best step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Decision tree splits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Best-first / A*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Rank by f(n) = g(n) + h(n)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Structure learning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Beam search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Keep only the top-k candidates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Sequence decoding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Simulated annealing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Accept worse moves, less over time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Hyperparameter tuning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Genetic algorithms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Evolve a population by fitness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 / architecture search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6D6A3-D31F-9CAA-F7D3-D313A5C86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34" y="190985"/>
            <a:ext cx="655211" cy="860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3906E5-0677-56B5-BE7E-2F4C79187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decision trees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4480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dt-bullets"/>
          <p:cNvSpPr txBox="1"/>
          <p:nvPr/>
        </p:nvSpPr>
        <p:spPr>
          <a:xfrm>
            <a:off x="5303520" y="1806303"/>
            <a:ext cx="3383280" cy="214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each node, greedily pick the split with the highest information gain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Pure nodes (entropy 0) need no further search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Builds a good tree in polynomial time instead of searching all trees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39BE6-3FE0-93D8-3998-83CA77B0D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63" y="256299"/>
            <a:ext cx="655211" cy="860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257001-2455-3B57-0A05-1239F4BA1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feature selection</a:t>
            </a:r>
            <a:endParaRPr lang="en-US" sz="3400" dirty="0"/>
          </a:p>
        </p:txBody>
      </p:sp>
      <p:sp>
        <p:nvSpPr>
          <p:cNvPr id="4" name="exh-card"/>
          <p:cNvSpPr/>
          <p:nvPr/>
        </p:nvSpPr>
        <p:spPr>
          <a:xfrm>
            <a:off x="548640" y="128016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h-label"/>
          <p:cNvSpPr txBox="1"/>
          <p:nvPr/>
        </p:nvSpPr>
        <p:spPr>
          <a:xfrm>
            <a:off x="7772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Exhaustive search</a:t>
            </a:r>
            <a:endParaRPr lang="en-US" sz="1800" dirty="0"/>
          </a:p>
        </p:txBody>
      </p:sp>
      <p:sp>
        <p:nvSpPr>
          <p:cNvPr id="6" name="exh-num"/>
          <p:cNvSpPr txBox="1"/>
          <p:nvPr/>
        </p:nvSpPr>
        <p:spPr>
          <a:xfrm>
            <a:off x="77724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1,048,576</a:t>
            </a:r>
            <a:endParaRPr lang="en-US" sz="4400" dirty="0"/>
          </a:p>
        </p:txBody>
      </p:sp>
      <p:sp>
        <p:nvSpPr>
          <p:cNvPr id="7" name="exh-cap"/>
          <p:cNvSpPr txBox="1"/>
          <p:nvPr/>
        </p:nvSpPr>
        <p:spPr>
          <a:xfrm>
            <a:off x="7772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feature subsets to evaluate (2²⁰)</a:t>
            </a:r>
            <a:endParaRPr lang="en-US" sz="1400" dirty="0"/>
          </a:p>
        </p:txBody>
      </p:sp>
      <p:sp>
        <p:nvSpPr>
          <p:cNvPr id="8" name="greedy-card"/>
          <p:cNvSpPr/>
          <p:nvPr/>
        </p:nvSpPr>
        <p:spPr>
          <a:xfrm>
            <a:off x="4754880" y="1280160"/>
            <a:ext cx="384048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greedy-label"/>
          <p:cNvSpPr txBox="1"/>
          <p:nvPr/>
        </p:nvSpPr>
        <p:spPr>
          <a:xfrm>
            <a:off x="498348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Greedy forward selection</a:t>
            </a:r>
            <a:endParaRPr lang="en-US" sz="1800" dirty="0"/>
          </a:p>
        </p:txBody>
      </p:sp>
      <p:sp>
        <p:nvSpPr>
          <p:cNvPr id="10" name="greedy-num"/>
          <p:cNvSpPr txBox="1"/>
          <p:nvPr/>
        </p:nvSpPr>
        <p:spPr>
          <a:xfrm>
            <a:off x="498348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</a:t>
            </a:r>
            <a:endParaRPr lang="en-US" sz="4400" dirty="0"/>
          </a:p>
        </p:txBody>
      </p:sp>
      <p:sp>
        <p:nvSpPr>
          <p:cNvPr id="11" name="greedy-cap"/>
          <p:cNvSpPr txBox="1"/>
          <p:nvPr/>
        </p:nvSpPr>
        <p:spPr>
          <a:xfrm>
            <a:off x="49834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models to evaluate (20·21 / 2)</a:t>
            </a:r>
            <a:endParaRPr lang="en-US" sz="1400" dirty="0"/>
          </a:p>
        </p:txBody>
      </p:sp>
      <p:sp>
        <p:nvSpPr>
          <p:cNvPr id="12" name="fs-takeaway"/>
          <p:cNvSpPr txBox="1"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/>
              <a:t>About 5,000× fewer evaluations. </a:t>
            </a:r>
            <a:r>
              <a:rPr lang="en-US" sz="1600" dirty="0"/>
              <a:t>Add the feature that helps most, repeat. Backward elimination and RFE follow the same idea.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F25E52-7714-E728-9B67-7C7B717EB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3" y="256299"/>
            <a:ext cx="655211" cy="860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A31B6A-208F-BC77-12D2-709057220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more applications</a:t>
            </a:r>
            <a:endParaRPr lang="en-US" sz="3400" dirty="0"/>
          </a:p>
        </p:txBody>
      </p:sp>
      <p:sp>
        <p:nvSpPr>
          <p:cNvPr id="4" name="app-card0"/>
          <p:cNvSpPr/>
          <p:nvPr/>
        </p:nvSpPr>
        <p:spPr>
          <a:xfrm>
            <a:off x="54864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pp-badge0"/>
          <p:cNvSpPr txBox="1"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pp-title0"/>
          <p:cNvSpPr txBox="1"/>
          <p:nvPr/>
        </p:nvSpPr>
        <p:spPr>
          <a:xfrm>
            <a:off x="77724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Hyperparameter tuning</a:t>
            </a:r>
            <a:endParaRPr lang="en-US" sz="1800" dirty="0"/>
          </a:p>
        </p:txBody>
      </p:sp>
      <p:sp>
        <p:nvSpPr>
          <p:cNvPr id="7" name="app-desc0"/>
          <p:cNvSpPr txBox="1"/>
          <p:nvPr/>
        </p:nvSpPr>
        <p:spPr>
          <a:xfrm>
            <a:off x="7772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Random search, successive halving and evolutionary methods spend compute on promising configurations</a:t>
            </a:r>
            <a:endParaRPr lang="en-US" sz="1400" dirty="0"/>
          </a:p>
        </p:txBody>
      </p:sp>
      <p:sp>
        <p:nvSpPr>
          <p:cNvPr id="8" name="app-card1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pp-badge1"/>
          <p:cNvSpPr txBox="1"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app-title1"/>
          <p:cNvSpPr txBox="1"/>
          <p:nvPr/>
        </p:nvSpPr>
        <p:spPr>
          <a:xfrm>
            <a:off x="352044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Architecture search</a:t>
            </a:r>
            <a:endParaRPr lang="en-US" sz="1800" dirty="0"/>
          </a:p>
        </p:txBody>
      </p:sp>
      <p:sp>
        <p:nvSpPr>
          <p:cNvPr id="11" name="app-desc1"/>
          <p:cNvSpPr txBox="1"/>
          <p:nvPr/>
        </p:nvSpPr>
        <p:spPr>
          <a:xfrm>
            <a:off x="35204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Evolutionary or learned controllers propose networks, and a cheap proxy score guides the next move</a:t>
            </a:r>
            <a:endParaRPr lang="en-US" sz="1400" dirty="0"/>
          </a:p>
        </p:txBody>
      </p:sp>
      <p:sp>
        <p:nvSpPr>
          <p:cNvPr id="12" name="app-card2"/>
          <p:cNvSpPr/>
          <p:nvPr/>
        </p:nvSpPr>
        <p:spPr>
          <a:xfrm>
            <a:off x="603504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pp-badge2"/>
          <p:cNvSpPr txBox="1"/>
          <p:nvPr/>
        </p:nvSpPr>
        <p:spPr>
          <a:xfrm>
            <a:off x="626364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app-title2"/>
          <p:cNvSpPr txBox="1"/>
          <p:nvPr/>
        </p:nvSpPr>
        <p:spPr>
          <a:xfrm>
            <a:off x="626364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Beam search decoding</a:t>
            </a:r>
            <a:endParaRPr lang="en-US" sz="1800" dirty="0"/>
          </a:p>
        </p:txBody>
      </p:sp>
      <p:sp>
        <p:nvSpPr>
          <p:cNvPr id="15" name="app-desc2"/>
          <p:cNvSpPr txBox="1"/>
          <p:nvPr/>
        </p:nvSpPr>
        <p:spPr>
          <a:xfrm>
            <a:off x="62636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Keep the top-k partial sequences at each step instead of all possible outputs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1F7F22-4CC0-E9B7-7729-413721AB3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3" y="256299"/>
            <a:ext cx="655211" cy="860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155F1D-BCC6-CE6C-915A-4A4E86A50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46051" y="205740"/>
            <a:ext cx="66518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Performance gains and trade-offs</a:t>
            </a:r>
            <a:endParaRPr lang="en-US" sz="3200" dirty="0"/>
          </a:p>
        </p:txBody>
      </p:sp>
      <p:sp>
        <p:nvSpPr>
          <p:cNvPr id="4" name="gain-card"/>
          <p:cNvSpPr/>
          <p:nvPr/>
        </p:nvSpPr>
        <p:spPr>
          <a:xfrm>
            <a:off x="54864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ain-badge"/>
          <p:cNvSpPr txBox="1"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6" name="gain-title"/>
          <p:cNvSpPr txBox="1"/>
          <p:nvPr/>
        </p:nvSpPr>
        <p:spPr>
          <a:xfrm>
            <a:off x="14173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gain</a:t>
            </a:r>
            <a:endParaRPr lang="en-US" sz="2000" dirty="0"/>
          </a:p>
        </p:txBody>
      </p:sp>
      <p:sp>
        <p:nvSpPr>
          <p:cNvPr id="7" name="gain-list"/>
          <p:cNvSpPr txBox="1"/>
          <p:nvPr/>
        </p:nvSpPr>
        <p:spPr>
          <a:xfrm>
            <a:off x="777240" y="21488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Exponential cost reduced to polynomial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Faster training and model selection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Good solutions on huge spaces</a:t>
            </a:r>
            <a:endParaRPr lang="en-US" sz="1600" dirty="0"/>
          </a:p>
        </p:txBody>
      </p:sp>
      <p:sp>
        <p:nvSpPr>
          <p:cNvPr id="8" name="cost-card"/>
          <p:cNvSpPr/>
          <p:nvPr/>
        </p:nvSpPr>
        <p:spPr>
          <a:xfrm>
            <a:off x="4663440" y="128016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st-badge"/>
          <p:cNvSpPr txBox="1"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10" name="cost-title"/>
          <p:cNvSpPr txBox="1"/>
          <p:nvPr/>
        </p:nvSpPr>
        <p:spPr>
          <a:xfrm>
            <a:off x="55321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give up</a:t>
            </a:r>
            <a:endParaRPr lang="en-US" sz="2000" dirty="0"/>
          </a:p>
        </p:txBody>
      </p:sp>
      <p:sp>
        <p:nvSpPr>
          <p:cNvPr id="11" name="cost-list"/>
          <p:cNvSpPr txBox="1"/>
          <p:nvPr/>
        </p:nvSpPr>
        <p:spPr>
          <a:xfrm>
            <a:off x="4892040" y="21488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guarantee of the global optimum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Local optima and plateaus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depend on heuristic quality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A8E6-A8B1-9EEE-DDB4-B05C0D6B7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3" y="256299"/>
            <a:ext cx="655211" cy="860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45DDC6-CCEF-6A74-E2B7-596C2B6C4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3A61-D248-AC08-DA27-F1914E6931EF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1671319" y="274320"/>
            <a:ext cx="5801360" cy="77724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E8F11-BC7D-E646-1DBE-E54D059CB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735" y="188231"/>
            <a:ext cx="840607" cy="836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922E0B-9A81-E1CD-A159-3B6F3E9B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34" y="190985"/>
            <a:ext cx="655211" cy="86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5A2DF3-DE31-E4D9-5C74-78A159DB505F}"/>
              </a:ext>
            </a:extLst>
          </p:cNvPr>
          <p:cNvSpPr txBox="1"/>
          <p:nvPr/>
        </p:nvSpPr>
        <p:spPr>
          <a:xfrm>
            <a:off x="769982" y="1103759"/>
            <a:ext cx="74821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Heuristics make the search practical.</a:t>
            </a:r>
            <a:r>
              <a:rPr lang="en-IN" dirty="0"/>
              <a:t> By ordering candidates, pruning unpromising branches, and scoring options with an evaluation function, they steer the search toward promising regions.</a:t>
            </a:r>
          </a:p>
          <a:p>
            <a:pPr lvl="0" algn="just"/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Inductive bias narrows the space.</a:t>
            </a:r>
            <a:r>
              <a:rPr lang="en-IN" dirty="0"/>
              <a:t> Preferring simpler or more general hypotheses (Occam's razor) limits what the learner has to consider.</a:t>
            </a:r>
          </a:p>
          <a:p>
            <a:pPr lvl="0" algn="just"/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Real ML algorithms already rely on heuristics.</a:t>
            </a:r>
            <a:r>
              <a:rPr lang="en-IN" dirty="0"/>
              <a:t> Greedy splits in decision trees, forward selection for features, beam search in decoding, and evolutionary or annealing-style tuning all use heuristic guidance.</a:t>
            </a:r>
          </a:p>
          <a:p>
            <a:pPr lvl="0" algn="just"/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The gain is large.</a:t>
            </a:r>
            <a:r>
              <a:rPr lang="en-IN" dirty="0"/>
              <a:t> Exponential cost often drops to polynomial. In the feature selection example, 210 evaluations replace over a million.</a:t>
            </a:r>
          </a:p>
        </p:txBody>
      </p:sp>
    </p:spTree>
    <p:extLst>
      <p:ext uri="{BB962C8B-B14F-4D97-AF65-F5344CB8AC3E}">
        <p14:creationId xmlns:p14="http://schemas.microsoft.com/office/powerpoint/2010/main" val="61693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5CAF-B9B9-408C-AF47-3BCE5AA5CB58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Thank You Vectors - Download Free High-Quality Vectors from Freepik |  Freepik">
            <a:extLst>
              <a:ext uri="{FF2B5EF4-FFF2-40B4-BE49-F238E27FC236}">
                <a16:creationId xmlns:a16="http://schemas.microsoft.com/office/drawing/2014/main" id="{78A691EE-4FD0-B6BD-F05A-29B8AB3B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47586"/>
      </p:ext>
    </p:extLst>
  </p:cSld>
  <p:clrMapOvr>
    <a:masterClrMapping/>
  </p:clrMapOvr>
</p:sld>
</file>

<file path=ppt/theme/theme1.xml><?xml version="1.0" encoding="utf-8"?>
<a:theme xmlns:a="http://schemas.openxmlformats.org/drawingml/2006/main" name="Heuristic Search">
  <a:themeElements>
    <a:clrScheme name="Heuristic Search">
      <a:dk1>
        <a:srgbClr val="0B1F3A"/>
      </a:dk1>
      <a:lt1>
        <a:srgbClr val="FFFFFF"/>
      </a:lt1>
      <a:dk2>
        <a:srgbClr val="12355B"/>
      </a:dk2>
      <a:lt2>
        <a:srgbClr val="EAF2F8"/>
      </a:lt2>
      <a:accent1>
        <a:srgbClr val="0E9AA7"/>
      </a:accent1>
      <a:accent2>
        <a:srgbClr val="F6AE2D"/>
      </a:accent2>
      <a:accent3>
        <a:srgbClr val="E4572E"/>
      </a:accent3>
      <a:accent4>
        <a:srgbClr val="3D5A80"/>
      </a:accent4>
      <a:accent5>
        <a:srgbClr val="9FD3DA"/>
      </a:accent5>
      <a:accent6>
        <a:srgbClr val="5B6770"/>
      </a:accent6>
      <a:hlink>
        <a:srgbClr val="0E9AA7"/>
      </a:hlink>
      <a:folHlink>
        <a:srgbClr val="5B6770"/>
      </a:folHlink>
    </a:clrScheme>
    <a:fontScheme name="Heuristic 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</TotalTime>
  <Words>903</Words>
  <Application>Microsoft Office PowerPoint</Application>
  <PresentationFormat>On-screen Show (16:9)</PresentationFormat>
  <Paragraphs>137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Heuristic Search</vt:lpstr>
      <vt:lpstr>Heuristic Search in Machine Learning</vt:lpstr>
      <vt:lpstr>What is heuristic search?</vt:lpstr>
      <vt:lpstr>Why ML needs heuristics</vt:lpstr>
      <vt:lpstr>Exploring the hypothesis space</vt:lpstr>
      <vt:lpstr>How heuristics guide the search</vt:lpstr>
      <vt:lpstr>Common heuristic search strategies</vt:lpstr>
      <vt:lpstr>Example 1: decision trees</vt:lpstr>
      <vt:lpstr>Example 2: feature selection</vt:lpstr>
      <vt:lpstr>Example 3: more applications</vt:lpstr>
      <vt:lpstr>Performance gains and trade-offs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Search in Machine Learning</dc:title>
  <dc:subject>PptxGenJS Presentation</dc:subject>
  <dc:creator>PptxGenJS</dc:creator>
  <cp:lastModifiedBy>Yazhini S</cp:lastModifiedBy>
  <cp:revision>6</cp:revision>
  <dcterms:created xsi:type="dcterms:W3CDTF">2026-10-08T15:31:50Z</dcterms:created>
  <dcterms:modified xsi:type="dcterms:W3CDTF">2026-10-08T16:49:38Z</dcterms:modified>
</cp:coreProperties>
</file>